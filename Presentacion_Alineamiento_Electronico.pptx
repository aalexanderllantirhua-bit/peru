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Equipos de Alineamiento Electrónico en Vehículos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Resumen de Uso y Aplicaciones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¿Qué es el Alineamiento Electrónico?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Sistema computarizado para medir y ajustar la geometría de las ruedas</a:t>
            </a:r>
          </a:p>
          <a:p>
            <a:pPr>
              <a:spcAft>
                <a:spcPts val="1200"/>
              </a:spcAft>
              <a:defRPr sz="1800"/>
            </a:pPr>
            <a:r>
              <a:t>Utiliza sensores y cámaras de alta precisión</a:t>
            </a:r>
          </a:p>
          <a:p>
            <a:pPr>
              <a:spcAft>
                <a:spcPts val="1200"/>
              </a:spcAft>
              <a:defRPr sz="1800"/>
            </a:pPr>
            <a:r>
              <a:t>Proporciona mediciones exactas en tiempo real</a:t>
            </a:r>
          </a:p>
          <a:p>
            <a:pPr>
              <a:spcAft>
                <a:spcPts val="1200"/>
              </a:spcAft>
              <a:defRPr sz="1800"/>
            </a:pPr>
            <a:r>
              <a:t>Permite ajustes precisos según especificaciones del fabricante</a:t>
            </a:r>
          </a:p>
          <a:p>
            <a:pPr>
              <a:spcAft>
                <a:spcPts val="1200"/>
              </a:spcAft>
              <a:defRPr sz="1800"/>
            </a:pPr>
            <a:r>
              <a:t>Mejora la seguridad y el rendimiento del vehículo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Componentes del Sistema de Alineamiento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Consola computarizada con software especializado</a:t>
            </a:r>
          </a:p>
          <a:p>
            <a:pPr>
              <a:spcAft>
                <a:spcPts val="1200"/>
              </a:spcAft>
              <a:defRPr sz="1800"/>
            </a:pPr>
            <a:r>
              <a:t>Cámaras de alta resolución (generalmente 4 u 8)</a:t>
            </a:r>
          </a:p>
          <a:p>
            <a:pPr>
              <a:spcAft>
                <a:spcPts val="1200"/>
              </a:spcAft>
              <a:defRPr sz="1800"/>
            </a:pPr>
            <a:r>
              <a:t>Sensores de rueda con reflectores o targets</a:t>
            </a:r>
          </a:p>
          <a:p>
            <a:pPr>
              <a:spcAft>
                <a:spcPts val="1200"/>
              </a:spcAft>
              <a:defRPr sz="1800"/>
            </a:pPr>
            <a:r>
              <a:t>Elevador o rampa de alineación</a:t>
            </a:r>
          </a:p>
          <a:p>
            <a:pPr>
              <a:spcAft>
                <a:spcPts val="1200"/>
              </a:spcAft>
              <a:defRPr sz="1800"/>
            </a:pPr>
            <a:r>
              <a:t>Platos giratorios y placas deslizantes</a:t>
            </a:r>
          </a:p>
          <a:p>
            <a:pPr>
              <a:spcAft>
                <a:spcPts val="1200"/>
              </a:spcAft>
              <a:defRPr sz="1800"/>
            </a:pPr>
            <a:r>
              <a:t>Sistema de calibración y diagnóstico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Parámetros Principales de Alineación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CAMBER: Inclinación vertical de la rueda (vista frontal)</a:t>
            </a:r>
          </a:p>
          <a:p>
            <a:pPr>
              <a:spcAft>
                <a:spcPts val="1200"/>
              </a:spcAft>
              <a:defRPr sz="1800"/>
            </a:pPr>
            <a:r>
              <a:t>CASTER: Inclinación del eje de dirección (vista lateral)</a:t>
            </a:r>
          </a:p>
          <a:p>
            <a:pPr>
              <a:spcAft>
                <a:spcPts val="1200"/>
              </a:spcAft>
              <a:defRPr sz="1800"/>
            </a:pPr>
            <a:r>
              <a:t>TOE (Convergencia): Ángulo horizontal de las ruedas</a:t>
            </a:r>
          </a:p>
          <a:p>
            <a:pPr>
              <a:spcAft>
                <a:spcPts val="1200"/>
              </a:spcAft>
              <a:defRPr sz="1800"/>
            </a:pPr>
            <a:r>
              <a:t>Ángulo de empuje (Thrust Angle)</a:t>
            </a:r>
          </a:p>
          <a:p>
            <a:pPr>
              <a:spcAft>
                <a:spcPts val="1200"/>
              </a:spcAft>
              <a:defRPr sz="1800"/>
            </a:pPr>
            <a:r>
              <a:t>SAI (Ángulo de Inclinación del Eje de Dirección)</a:t>
            </a:r>
          </a:p>
          <a:p>
            <a:pPr>
              <a:spcAft>
                <a:spcPts val="1200"/>
              </a:spcAft>
              <a:defRPr sz="1800"/>
            </a:pPr>
            <a:r>
              <a:t>Setback (Retroceso de rueda)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Proceso de Alineamiento Paso a Paso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1. Inspección visual previa del vehículo</a:t>
            </a:r>
          </a:p>
          <a:p>
            <a:pPr>
              <a:spcAft>
                <a:spcPts val="1200"/>
              </a:spcAft>
              <a:defRPr sz="1800"/>
            </a:pPr>
            <a:r>
              <a:t>2. Verificación de presión de neumáticos</a:t>
            </a:r>
          </a:p>
          <a:p>
            <a:pPr>
              <a:spcAft>
                <a:spcPts val="1200"/>
              </a:spcAft>
              <a:defRPr sz="1800"/>
            </a:pPr>
            <a:r>
              <a:t>3. Colocación del vehículo en el elevador</a:t>
            </a:r>
          </a:p>
          <a:p>
            <a:pPr>
              <a:spcAft>
                <a:spcPts val="1200"/>
              </a:spcAft>
              <a:defRPr sz="1800"/>
            </a:pPr>
            <a:r>
              <a:t>4. Instalación de sensores en las ruedas</a:t>
            </a:r>
          </a:p>
          <a:p>
            <a:pPr>
              <a:spcAft>
                <a:spcPts val="1200"/>
              </a:spcAft>
              <a:defRPr sz="1800"/>
            </a:pPr>
            <a:r>
              <a:t>5. Compensación de sensores (rolling compensation)</a:t>
            </a:r>
          </a:p>
          <a:p>
            <a:pPr>
              <a:spcAft>
                <a:spcPts val="1200"/>
              </a:spcAft>
              <a:defRPr sz="1800"/>
            </a:pPr>
            <a:r>
              <a:t>6. Medición inicial de todos los parámetros</a:t>
            </a:r>
          </a:p>
          <a:p>
            <a:pPr>
              <a:spcAft>
                <a:spcPts val="1200"/>
              </a:spcAft>
              <a:defRPr sz="1800"/>
            </a:pPr>
            <a:r>
              <a:t>7. Ajustes según especificaciones del fabricante</a:t>
            </a:r>
          </a:p>
          <a:p>
            <a:pPr>
              <a:spcAft>
                <a:spcPts val="1200"/>
              </a:spcAft>
              <a:defRPr sz="1800"/>
            </a:pPr>
            <a:r>
              <a:t>8. Verificación final y entrega de reporte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Ventajas y Consideraciones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✓ VENTAJAS:</a:t>
            </a:r>
          </a:p>
          <a:p>
            <a:pPr>
              <a:spcAft>
                <a:spcPts val="1000"/>
              </a:spcAft>
              <a:defRPr sz="1600"/>
            </a:pPr>
            <a:r>
              <a:t>• Precisión milimétrica</a:t>
            </a:r>
          </a:p>
          <a:p>
            <a:pPr>
              <a:spcAft>
                <a:spcPts val="1000"/>
              </a:spcAft>
              <a:defRPr sz="1600"/>
            </a:pPr>
            <a:r>
              <a:t>• Rapidez en el proceso</a:t>
            </a:r>
          </a:p>
          <a:p>
            <a:pPr>
              <a:spcAft>
                <a:spcPts val="1000"/>
              </a:spcAft>
              <a:defRPr sz="1600"/>
            </a:pPr>
            <a:r>
              <a:t>• Reportes detallados</a:t>
            </a:r>
          </a:p>
          <a:p>
            <a:pPr>
              <a:spcAft>
                <a:spcPts val="1000"/>
              </a:spcAft>
              <a:defRPr sz="1600"/>
            </a:pPr>
            <a:r>
              <a:t>• Menor margen de error</a:t>
            </a:r>
          </a:p>
          <a:p>
            <a:pPr>
              <a:spcAft>
                <a:spcPts val="1000"/>
              </a:spcAft>
              <a:defRPr sz="1600"/>
            </a:pPr>
            <a:r>
              <a:t>• Base de datos de vehículos</a:t>
            </a:r>
          </a:p>
          <a:p>
            <a:pPr>
              <a:spcAft>
                <a:spcPts val="1000"/>
              </a:spcAft>
              <a:defRPr sz="1600"/>
            </a:pPr>
            <a:r>
              <a:t>• Diagnóstico completo</a:t>
            </a:r>
          </a:p>
          <a:p>
            <a:pPr>
              <a:spcAft>
                <a:spcPts val="1000"/>
              </a:spcAft>
              <a:defRPr sz="1600"/>
            </a:pPr>
            <a:r>
              <a:t>• Interfaz visual intuitiva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⚠ CONSIDERACIONES:</a:t>
            </a:r>
          </a:p>
          <a:p>
            <a:pPr>
              <a:spcAft>
                <a:spcPts val="1000"/>
              </a:spcAft>
              <a:defRPr sz="1600"/>
            </a:pPr>
            <a:r>
              <a:t>• Inversión inicial elevada</a:t>
            </a:r>
          </a:p>
          <a:p>
            <a:pPr>
              <a:spcAft>
                <a:spcPts val="1000"/>
              </a:spcAft>
              <a:defRPr sz="1600"/>
            </a:pPr>
            <a:r>
              <a:t>• Requiere capacitación</a:t>
            </a:r>
          </a:p>
          <a:p>
            <a:pPr>
              <a:spcAft>
                <a:spcPts val="1000"/>
              </a:spcAft>
              <a:defRPr sz="1600"/>
            </a:pPr>
            <a:r>
              <a:t>• Mantenimiento periódico</a:t>
            </a:r>
          </a:p>
          <a:p>
            <a:pPr>
              <a:spcAft>
                <a:spcPts val="1000"/>
              </a:spcAft>
              <a:defRPr sz="1600"/>
            </a:pPr>
            <a:r>
              <a:t>• Calibración regular</a:t>
            </a:r>
          </a:p>
          <a:p>
            <a:pPr>
              <a:spcAft>
                <a:spcPts val="1000"/>
              </a:spcAft>
              <a:defRPr sz="1600"/>
            </a:pPr>
            <a:r>
              <a:t>• Espacio físico adecuado</a:t>
            </a:r>
          </a:p>
          <a:p>
            <a:pPr>
              <a:spcAft>
                <a:spcPts val="1000"/>
              </a:spcAft>
              <a:defRPr sz="1600"/>
            </a:pPr>
            <a:r>
              <a:t>• Actualizaciones de software</a:t>
            </a:r>
          </a:p>
          <a:p>
            <a:pPr>
              <a:spcAft>
                <a:spcPts val="1000"/>
              </a:spcAft>
              <a:defRPr sz="1600"/>
            </a:pPr>
            <a:r>
              <a:t>• Dependencia tecnológica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Síntomas de Desalineación del Vehículo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Desgaste irregular o prematuro de neumáticos</a:t>
            </a:r>
          </a:p>
          <a:p>
            <a:pPr>
              <a:spcAft>
                <a:spcPts val="1200"/>
              </a:spcAft>
              <a:defRPr sz="1800"/>
            </a:pPr>
            <a:r>
              <a:t>Vehículo se desvía hacia un lado</a:t>
            </a:r>
          </a:p>
          <a:p>
            <a:pPr>
              <a:spcAft>
                <a:spcPts val="1200"/>
              </a:spcAft>
              <a:defRPr sz="1800"/>
            </a:pPr>
            <a:r>
              <a:t>Volante descentrado al conducir en línea recta</a:t>
            </a:r>
          </a:p>
          <a:p>
            <a:pPr>
              <a:spcAft>
                <a:spcPts val="1200"/>
              </a:spcAft>
              <a:defRPr sz="1800"/>
            </a:pPr>
            <a:r>
              <a:t>Vibración en el volante</a:t>
            </a:r>
          </a:p>
          <a:p>
            <a:pPr>
              <a:spcAft>
                <a:spcPts val="1200"/>
              </a:spcAft>
              <a:defRPr sz="1800"/>
            </a:pPr>
            <a:r>
              <a:t>Manejo inestable o impreciso</a:t>
            </a:r>
          </a:p>
          <a:p>
            <a:pPr>
              <a:spcAft>
                <a:spcPts val="1200"/>
              </a:spcAft>
              <a:defRPr sz="1800"/>
            </a:pPr>
            <a:r>
              <a:t>Mayor consumo de combustible</a:t>
            </a:r>
          </a:p>
          <a:p>
            <a:pPr>
              <a:spcAft>
                <a:spcPts val="1200"/>
              </a:spcAft>
              <a:defRPr sz="1800"/>
            </a:pPr>
            <a:r>
              <a:t>Ruidos anormales en la suspensión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Tipos de Equipos de Alineamiento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Sistemas 3D: Utilizan cámaras y targets reflectivos</a:t>
            </a:r>
          </a:p>
          <a:p>
            <a:pPr>
              <a:spcAft>
                <a:spcPts val="1200"/>
              </a:spcAft>
              <a:defRPr sz="1800"/>
            </a:pPr>
            <a:r>
              <a:t>Sistemas CCD: Sensores de carga acoplada</a:t>
            </a:r>
          </a:p>
          <a:p>
            <a:pPr>
              <a:spcAft>
                <a:spcPts val="1200"/>
              </a:spcAft>
              <a:defRPr sz="1800"/>
            </a:pPr>
            <a:r>
              <a:t>Sistemas láser: Tecnología de rayos láser</a:t>
            </a:r>
          </a:p>
          <a:p>
            <a:pPr>
              <a:spcAft>
                <a:spcPts val="1200"/>
              </a:spcAft>
              <a:defRPr sz="1800"/>
            </a:pPr>
            <a:r>
              <a:t>Sistemas de 4 cámaras: Configuración estándar</a:t>
            </a:r>
          </a:p>
          <a:p>
            <a:pPr>
              <a:spcAft>
                <a:spcPts val="1200"/>
              </a:spcAft>
              <a:defRPr sz="1800"/>
            </a:pPr>
            <a:r>
              <a:t>Sistemas de 8 cámaras: Mayor precisión y rapidez</a:t>
            </a:r>
          </a:p>
          <a:p>
            <a:pPr>
              <a:spcAft>
                <a:spcPts val="1200"/>
              </a:spcAft>
              <a:defRPr sz="1800"/>
            </a:pPr>
            <a:r>
              <a:t>Sistemas móviles: Portátiles para servicio en sitio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Mantenimiento del Equipo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Calibración mensual o según uso</a:t>
            </a:r>
          </a:p>
          <a:p>
            <a:pPr>
              <a:spcAft>
                <a:spcPts val="1200"/>
              </a:spcAft>
              <a:defRPr sz="1800"/>
            </a:pPr>
            <a:r>
              <a:t>Limpieza de cámaras y sensores</a:t>
            </a:r>
          </a:p>
          <a:p>
            <a:pPr>
              <a:spcAft>
                <a:spcPts val="1200"/>
              </a:spcAft>
              <a:defRPr sz="1800"/>
            </a:pPr>
            <a:r>
              <a:t>Verificación de platos y placas deslizantes</a:t>
            </a:r>
          </a:p>
          <a:p>
            <a:pPr>
              <a:spcAft>
                <a:spcPts val="1200"/>
              </a:spcAft>
              <a:defRPr sz="1800"/>
            </a:pPr>
            <a:r>
              <a:t>Actualización de software y base de datos</a:t>
            </a:r>
          </a:p>
          <a:p>
            <a:pPr>
              <a:spcAft>
                <a:spcPts val="1200"/>
              </a:spcAft>
              <a:defRPr sz="1800"/>
            </a:pPr>
            <a:r>
              <a:t>Revisión de conexiones y cables</a:t>
            </a:r>
          </a:p>
          <a:p>
            <a:pPr>
              <a:spcAft>
                <a:spcPts val="1200"/>
              </a:spcAft>
              <a:defRPr sz="1800"/>
            </a:pPr>
            <a:r>
              <a:t>Protección contra polvo y humedad</a:t>
            </a:r>
          </a:p>
          <a:p>
            <a:pPr>
              <a:spcAft>
                <a:spcPts val="1200"/>
              </a:spcAft>
              <a:defRPr sz="1800"/>
            </a:pPr>
            <a:r>
              <a:t>Capacitación continua del personal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Beneficios para el Cliente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Mayor vida útil de los neumáticos (hasta 30% más)</a:t>
            </a:r>
          </a:p>
          <a:p>
            <a:pPr>
              <a:spcAft>
                <a:spcPts val="1200"/>
              </a:spcAft>
              <a:defRPr sz="1800"/>
            </a:pPr>
            <a:r>
              <a:t>Mejor economía de combustible</a:t>
            </a:r>
          </a:p>
          <a:p>
            <a:pPr>
              <a:spcAft>
                <a:spcPts val="1200"/>
              </a:spcAft>
              <a:defRPr sz="1800"/>
            </a:pPr>
            <a:r>
              <a:t>Conducción más segura y estable</a:t>
            </a:r>
          </a:p>
          <a:p>
            <a:pPr>
              <a:spcAft>
                <a:spcPts val="1200"/>
              </a:spcAft>
              <a:defRPr sz="1800"/>
            </a:pPr>
            <a:r>
              <a:t>Menor desgaste de componentes de suspensión</a:t>
            </a:r>
          </a:p>
          <a:p>
            <a:pPr>
              <a:spcAft>
                <a:spcPts val="1200"/>
              </a:spcAft>
              <a:defRPr sz="1800"/>
            </a:pPr>
            <a:r>
              <a:t>Reporte técnico detallado y profesional</a:t>
            </a:r>
          </a:p>
          <a:p>
            <a:pPr>
              <a:spcAft>
                <a:spcPts val="1200"/>
              </a:spcAft>
              <a:defRPr sz="1800"/>
            </a:pPr>
            <a:r>
              <a:t>Garantía de trabajo realizado</a:t>
            </a:r>
          </a:p>
          <a:p>
            <a:pPr>
              <a:spcAft>
                <a:spcPts val="1200"/>
              </a:spcAft>
              <a:defRPr sz="1800"/>
            </a:pPr>
            <a:r>
              <a:t>Prevención de problemas futuros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Principales Fabricantes de Equipos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Hunter Engineering - Líder mundial en alineación</a:t>
            </a:r>
          </a:p>
          <a:p>
            <a:pPr>
              <a:spcAft>
                <a:spcPts val="1200"/>
              </a:spcAft>
              <a:defRPr sz="1800"/>
            </a:pPr>
            <a:r>
              <a:t>John Bean - Tecnología italiana de precisión</a:t>
            </a:r>
          </a:p>
          <a:p>
            <a:pPr>
              <a:spcAft>
                <a:spcPts val="1200"/>
              </a:spcAft>
              <a:defRPr sz="1800"/>
            </a:pPr>
            <a:r>
              <a:t>Hofmann - Equipos alemanes de alta calidad</a:t>
            </a:r>
          </a:p>
          <a:p>
            <a:pPr>
              <a:spcAft>
                <a:spcPts val="1200"/>
              </a:spcAft>
              <a:defRPr sz="1800"/>
            </a:pPr>
            <a:r>
              <a:t>Ravaglioli - Soluciones profesionales</a:t>
            </a:r>
          </a:p>
          <a:p>
            <a:pPr>
              <a:spcAft>
                <a:spcPts val="1200"/>
              </a:spcAft>
              <a:defRPr sz="1800"/>
            </a:pPr>
            <a:r>
              <a:t>Corghi - Innovación y diseño italiano</a:t>
            </a:r>
          </a:p>
          <a:p>
            <a:pPr>
              <a:spcAft>
                <a:spcPts val="1200"/>
              </a:spcAft>
              <a:defRPr sz="1800"/>
            </a:pPr>
            <a:r>
              <a:t>Launch - Tecnología asiática accesible</a:t>
            </a:r>
          </a:p>
          <a:p>
            <a:pPr>
              <a:spcAft>
                <a:spcPts val="1200"/>
              </a:spcAft>
              <a:defRPr sz="1800"/>
            </a:pPr>
            <a:r>
              <a:t>Beissbarth - Precisión alemana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El alineamiento electrónico es esencial en talleres modernos</a:t>
            </a:r>
          </a:p>
          <a:p>
            <a:pPr>
              <a:spcAft>
                <a:spcPts val="1200"/>
              </a:spcAft>
              <a:defRPr sz="1800"/>
            </a:pPr>
            <a:r>
              <a:t>Inversión que se recupera con el volumen de trabajo</a:t>
            </a:r>
          </a:p>
          <a:p>
            <a:pPr>
              <a:spcAft>
                <a:spcPts val="1200"/>
              </a:spcAft>
              <a:defRPr sz="1800"/>
            </a:pPr>
            <a:r>
              <a:t>Mejora la satisfacción y confianza del cliente</a:t>
            </a:r>
          </a:p>
          <a:p>
            <a:pPr>
              <a:spcAft>
                <a:spcPts val="1200"/>
              </a:spcAft>
              <a:defRPr sz="1800"/>
            </a:pPr>
            <a:r>
              <a:t>Tecnología en constante evolución</a:t>
            </a:r>
          </a:p>
          <a:p>
            <a:pPr>
              <a:spcAft>
                <a:spcPts val="1200"/>
              </a:spcAft>
              <a:defRPr sz="1800"/>
            </a:pPr>
            <a:r>
              <a:t>Requiere personal capacitado y comprometido</a:t>
            </a:r>
          </a:p>
          <a:p>
            <a:pPr>
              <a:spcAft>
                <a:spcPts val="1200"/>
              </a:spcAft>
              <a:defRPr sz="1800"/>
            </a:pPr>
            <a:r>
              <a:t>Fundamental para la seguridad vial</a:t>
            </a:r>
          </a:p>
          <a:p>
            <a:pPr>
              <a:spcAft>
                <a:spcPts val="1200"/>
              </a:spcAft>
              <a:defRPr sz="1800"/>
            </a:pPr>
            <a:r>
              <a:t>Diferenciador competitivo en el mercado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¡Gracias!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Preguntas y Comentarios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